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7A4A">
              <a:alpha val="40000"/>
            </a:srgbClr>
          </a:solidFill>
          <a:ln w="12700">
            <a:solidFill>
              <a:srgbClr val="1A7A4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1A7A4A">
              <a:alpha val="30000"/>
            </a:srgbClr>
          </a:solidFill>
          <a:ln w="12700">
            <a:solidFill>
              <a:srgbClr val="1A7A4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754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WEEK VAN HET GELD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 vs.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Portemonnee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les over geld, verleidingstrucs en slimme keuzes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vmbo · havo · vwo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minuten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188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💰</a:t>
            </a:r>
            <a:endParaRPr lang="en-US" sz="1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D2E"/>
          </a:solidFill>
          <a:ln w="12700">
            <a:solidFill>
              <a:srgbClr val="0F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gaan we vandaag doen?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600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438912" cy="320040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Drie dilemma's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· Influencers · In-game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54864" cy="1600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98448"/>
            <a:ext cx="438912" cy="320040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5192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Uur-Calculator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65192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werk jij voor een gadget?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54864" cy="1600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27248"/>
            <a:ext cx="438912" cy="320040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Dark Patterns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verleidingstrucs herkennen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54864" cy="1600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127248"/>
            <a:ext cx="438912" cy="320040"/>
          </a:xfrm>
          <a:prstGeom prst="rect">
            <a:avLst/>
          </a:prstGeom>
          <a:solidFill>
            <a:srgbClr val="1A7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65192" y="3474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Reflectievragen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65192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· Maatschappelijk · Toekomst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Totaal: 50 minuten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4663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Leerdoelen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einde van deze les kan de leerling: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658368"/>
          </a:xfrm>
          <a:prstGeom prst="rect">
            <a:avLst/>
          </a:prstGeom>
          <a:solidFill>
            <a:srgbClr val="F4F8F4"/>
          </a:solidFill>
          <a:ln w="12700">
            <a:solidFill>
              <a:srgbClr val="E8F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72768"/>
            <a:ext cx="54864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160934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Uitleggen hoe bedrijven psychologische trucs gebruiken om meer geld uit te geven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77440"/>
            <a:ext cx="54864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4140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échte prijs van een aankoop berekenen in werkuren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8412480" cy="658368"/>
          </a:xfrm>
          <a:prstGeom prst="rect">
            <a:avLst/>
          </a:prstGeom>
          <a:solidFill>
            <a:srgbClr val="F4F8F4"/>
          </a:solidFill>
          <a:ln w="12700">
            <a:solidFill>
              <a:srgbClr val="E8F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82112"/>
            <a:ext cx="54864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82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🕸️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78992" y="32186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Minimaal 3 dark patterns herkennen en benoemen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86784"/>
            <a:ext cx="54864" cy="6583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867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8992" y="40233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eigen standpunt onderbouwen over geld, reclame en verleidingstrucs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4828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D4A6E">
              <a:alpha val="50000"/>
            </a:srgbClr>
          </a:solidFill>
          <a:ln w="12700">
            <a:solidFill>
              <a:srgbClr val="2D4A6E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Openingsvraag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2D4A6E">
              <a:alpha val="70000"/>
            </a:srgbClr>
          </a:solidFill>
          <a:ln w="2540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ziet een hoodie van €89,- op Instagram. Je klikt. Klarna zegt: betaal later. Je bestelt. Drie weken later komt de rekening.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is dit precies gebeurd — en had jij het door?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Bespreek kort met je buurman/buurvrouw — 2 minuten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D2E"/>
          </a:solidFill>
          <a:ln w="12700">
            <a:solidFill>
              <a:srgbClr val="0F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Stap 1 — Drie dilemma's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64008" cy="1078992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Dilemma 1 — De Klarna Trap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 koopt via Klarna €260,- aan kleding in 3 termijnen. Ze denkt: "maar €60,- per maand..."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2468880" cy="566928"/>
          </a:xfrm>
          <a:prstGeom prst="rect">
            <a:avLst/>
          </a:prstGeom>
          <a:solidFill>
            <a:srgbClr val="1A5A8A">
              <a:alpha val="15000"/>
            </a:srgbClr>
          </a:solidFill>
          <a:ln w="12700">
            <a:solidFill>
              <a:srgbClr val="1A5A8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13898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Voor wie is 'Koop nu, betaal later' slim?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50008"/>
            <a:ext cx="64008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2316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Dilemma 2 — De Influencer Deal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27523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@Jayden_Lifestyle (1,2M volgers) raadt een energydrankje aan. Hij verdient €0,50 per verkoop.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606040"/>
            <a:ext cx="2468880" cy="566928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26243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Wat is het verschil tussen advies en reclame?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84448"/>
            <a:ext cx="64008" cy="1078992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5760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Dilemma 3 — In-Game Aankopen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39867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Daan wil een Fortnite skin van €19,99. De timer tikt: "Nog 23:47:12..."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2468880" cy="566928"/>
          </a:xfrm>
          <a:prstGeom prst="rect">
            <a:avLst/>
          </a:prstGeom>
          <a:solidFill>
            <a:srgbClr val="B30000">
              <a:alpha val="15000"/>
            </a:srgbClr>
          </a:solidFill>
          <a:ln w="12700">
            <a:solidFill>
              <a:srgbClr val="B3000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38587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Verbieden voor minderjarigen — eens of oneens?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Leerlingen werken op vlaconomie.nl →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D2E"/>
          </a:solidFill>
          <a:ln w="12700">
            <a:solidFill>
              <a:srgbClr val="0F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Stap 2 — De Uur-Calculator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Minimumjeugdloon 15-jarige (1 jan 2026):  €4,41 bruto per uur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88036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19072"/>
            <a:ext cx="13258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719072"/>
            <a:ext cx="13258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Werkuren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19072"/>
            <a:ext cx="25146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1719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Zaterdagen (4u)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288036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03120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AirPods Pro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132588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103120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€ 249,-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132588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103120"/>
            <a:ext cx="1225296" cy="438912"/>
          </a:xfrm>
          <a:prstGeom prst="rect">
            <a:avLst/>
          </a:prstGeom>
          <a:solidFill>
            <a:srgbClr val="0F4D2E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uur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103120"/>
            <a:ext cx="251460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210312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zaterdagen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578608"/>
            <a:ext cx="2880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578608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Air Max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578608"/>
            <a:ext cx="1325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578608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€ 169,-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578608"/>
            <a:ext cx="1325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578608"/>
            <a:ext cx="1225296" cy="438912"/>
          </a:xfrm>
          <a:prstGeom prst="rect">
            <a:avLst/>
          </a:prstGeom>
          <a:solidFill>
            <a:srgbClr val="0F4D2E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uur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578608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57860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zaterdagen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054096"/>
            <a:ext cx="288036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054096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Fortnite skin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3054096"/>
            <a:ext cx="132588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054096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€ 19,99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054096"/>
            <a:ext cx="132588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054096"/>
            <a:ext cx="1225296" cy="438912"/>
          </a:xfrm>
          <a:prstGeom prst="rect">
            <a:avLst/>
          </a:prstGeom>
          <a:solidFill>
            <a:srgbClr val="0F4D2E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 uur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3054096"/>
            <a:ext cx="251460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305409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zaterdag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529584"/>
            <a:ext cx="2880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529584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jas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91840" y="3529584"/>
            <a:ext cx="1325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529584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€ 120,-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63440" y="3529584"/>
            <a:ext cx="1325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529584"/>
            <a:ext cx="1225296" cy="438912"/>
          </a:xfrm>
          <a:prstGeom prst="rect">
            <a:avLst/>
          </a:prstGeom>
          <a:solidFill>
            <a:srgbClr val="0F4D2E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uur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3529584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352958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zaterdagen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005072"/>
            <a:ext cx="288036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4005072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Premium (jaar)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91840" y="4005072"/>
            <a:ext cx="132588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4005072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€ 71,88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4005072"/>
            <a:ext cx="132588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4005072"/>
            <a:ext cx="1225296" cy="438912"/>
          </a:xfrm>
          <a:prstGeom prst="rect">
            <a:avLst/>
          </a:prstGeom>
          <a:solidFill>
            <a:srgbClr val="0F4D2E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uur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035040" y="4005072"/>
            <a:ext cx="2514600" cy="438912"/>
          </a:xfrm>
          <a:prstGeom prst="rect">
            <a:avLst/>
          </a:prstGeom>
          <a:solidFill>
            <a:srgbClr val="F4F8F4"/>
          </a:solidFill>
          <a:ln w="12700">
            <a:solidFill>
              <a:srgbClr val="E0ED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08192" y="4005072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zaterdagen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Vraag aan de klas: kijk je anders naar een aankoop als je hem in uren uitdrukt?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Stap 3 — Dark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verleidingstrucs die webshops gebruiken — jij herkent ze nu!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81328"/>
            <a:ext cx="54864" cy="10058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#1 — De Nepdrukte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9202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"Nog maar 2 op voorraad!" · "23 mensen bekijken dit nu"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96896"/>
            <a:ext cx="54864" cy="10058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#2 — De Countdown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30358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"Aanbieding verloopt over 02:14:33" (en begint daarna gewoon opnieuw)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712464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12464"/>
            <a:ext cx="54864" cy="10058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803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#3 — De Verborgen Kosten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" y="41513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Prijs: €29,- → aan het einde: + €6,50 verzending + €2,- servicekosten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481328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481328"/>
            <a:ext cx="54864" cy="10058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🪤  #4 — Het Roach Motel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28616" y="19202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Inschrijven = 1 klik. Uitschrijven = bellen, mailen, wachten...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596896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596896"/>
            <a:ext cx="54864" cy="1115568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2688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#5 — De Misleidende Knop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0358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 groene knop: "Ja!"  ·  Kleine grijze tekst: "Nee bedankt"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Opdracht: open een webshop en vind zoveel mogelijk dark patterns in 5 minuten!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D4A6E">
              <a:alpha val="40000"/>
            </a:srgbClr>
          </a:solidFill>
          <a:ln w="12700">
            <a:solidFill>
              <a:srgbClr val="2D4A6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Stap 4 — Reflectievragen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Sluit de les af met een scherp gesprek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05840"/>
          </a:xfrm>
          <a:prstGeom prst="rect">
            <a:avLst/>
          </a:prstGeom>
          <a:solidFill>
            <a:srgbClr val="2D4A6E">
              <a:alpha val="70000"/>
            </a:srgbClr>
          </a:solidFill>
          <a:ln w="12700">
            <a:solidFill>
              <a:srgbClr val="F0C04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solidFill>
            <a:srgbClr val="F0C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7099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aan de laatste keer dat je iets kocht wat je eigenlijk niet nodig had. Welke truc heeft jou over de streep getrokken?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1005840"/>
          </a:xfrm>
          <a:prstGeom prst="rect">
            <a:avLst/>
          </a:prstGeom>
          <a:solidFill>
            <a:srgbClr val="2D4A6E">
              <a:alpha val="70000"/>
            </a:srgbClr>
          </a:solidFill>
          <a:ln w="12700">
            <a:solidFill>
              <a:srgbClr val="F0C04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solidFill>
            <a:srgbClr val="F0C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MAATSCHAPPELIJK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8986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eerlijk dat bedrijven psychologische trucjes mogen gebruiken op tieners? Waar ligt de grens?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2D4A6E">
              <a:alpha val="70000"/>
            </a:srgbClr>
          </a:solidFill>
          <a:ln w="12700">
            <a:solidFill>
              <a:srgbClr val="F0C04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solidFill>
            <a:srgbClr val="F0C0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TOEKOMSTGERICHT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408736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jij €50,- per maand spaart in plaats van uitgeeft — wat betekent dat over 5 jaar? Bereken het!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0" y="4828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D2E"/>
          </a:solidFill>
          <a:ln w="12700">
            <a:solidFill>
              <a:srgbClr val="0F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Lesplanning — 50 minuten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52144"/>
            <a:ext cx="1261872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 min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1152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Intro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14264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Openingsvraag + klassengesprek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01952"/>
            <a:ext cx="1261872" cy="502920"/>
          </a:xfrm>
          <a:prstGeom prst="rect">
            <a:avLst/>
          </a:prstGeom>
          <a:solidFill>
            <a:srgbClr val="1A5A8A"/>
          </a:solidFill>
          <a:ln w="12700">
            <a:solidFill>
              <a:srgbClr val="1A5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20 min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Dilemma's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1762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lezen, slider invullen, bespreken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8412480" cy="65836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126187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517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30 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7373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Uur-Calculator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2926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aankoop invoeren + tabel bekijken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01568"/>
            <a:ext cx="1261872" cy="50292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0156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min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 Dark Patterns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3675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Zoektocht op echte webshop (5 min) + nabespreking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F9F9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51376"/>
            <a:ext cx="1261872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51376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50 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3736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Reflectie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737360" y="44256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Schrijven + klassengesprek ter afsluiting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Leerlingen werken op:  vlaconomie.nl/week-van-het-geld.html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1A7A4A">
              <a:alpha val="40000"/>
            </a:srgbClr>
          </a:solidFill>
          <a:ln w="12700">
            <a:solidFill>
              <a:srgbClr val="1A7A4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1A7A4A">
              <a:alpha val="35000"/>
            </a:srgbClr>
          </a:solidFill>
          <a:ln w="12700">
            <a:solidFill>
              <a:srgbClr val="1A7A4A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20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💸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Klaar om te beginnen!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vlaconomie.nl en klik op 'Week van het Geld'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03120" y="3063240"/>
            <a:ext cx="4937760" cy="5669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30632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vlaconomie.nl/week-van-het-geld.html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· Geen account nodig · Werkt op elk apparaat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vlaconomie.nl  —  Economie oefenen voor VMBO, HAVO en VWO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van het Geld — Docentenpresentatie</dc:title>
  <dc:subject>PptxGenJS Presentation</dc:subject>
  <dc:creator>vlaconomie.nl</dc:creator>
  <cp:lastModifiedBy>vlaconomie.nl</cp:lastModifiedBy>
  <cp:revision>1</cp:revision>
  <dcterms:created xsi:type="dcterms:W3CDTF">2026-03-22T10:18:04Z</dcterms:created>
  <dcterms:modified xsi:type="dcterms:W3CDTF">2026-03-22T10:18:04Z</dcterms:modified>
</cp:coreProperties>
</file>