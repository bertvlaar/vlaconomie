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1A7A4A">
              <a:alpha val="40000"/>
            </a:srgbClr>
          </a:solidFill>
          <a:ln w="12700">
            <a:solidFill>
              <a:srgbClr val="1A7A4A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2926080"/>
            <a:ext cx="2286000" cy="2286000"/>
          </a:xfrm>
          <a:prstGeom prst="ellipse">
            <a:avLst/>
          </a:prstGeom>
          <a:solidFill>
            <a:srgbClr val="1A7A4A">
              <a:alpha val="30000"/>
            </a:srgbClr>
          </a:solidFill>
          <a:ln w="12700">
            <a:solidFill>
              <a:srgbClr val="1A7A4A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502920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548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4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 WEEK VAN HET GELD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Jij vs.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0C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Portemonnee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les over geld, verleidingstrucs en slimme keuzes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 havo · vwo</a:t>
            </a:r>
            <a:pPr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pPr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minuten</a:t>
            </a:r>
            <a:pPr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pPr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vlaconomie.nl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118872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dirty="0">
                <a:solidFill>
                  <a:srgbClr val="000000"/>
                </a:solidFill>
              </a:rPr>
              <a:t>💰</a:t>
            </a:r>
            <a:endParaRPr lang="en-US" sz="10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4D2E"/>
          </a:solidFill>
          <a:ln w="12700">
            <a:solidFill>
              <a:srgbClr val="0F4D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gaan we vandaag doen?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1148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54864" cy="160020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98448"/>
            <a:ext cx="438912" cy="320040"/>
          </a:xfrm>
          <a:prstGeom prst="rect">
            <a:avLst/>
          </a:prstGeom>
          <a:solidFill>
            <a:srgbClr val="1A7A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30352" y="1645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Drie dilemma's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30352" y="2194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Klarna · Influencers · In-game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00600" y="1188720"/>
            <a:ext cx="41148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1188720"/>
            <a:ext cx="54864" cy="160020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298448"/>
            <a:ext cx="438912" cy="320040"/>
          </a:xfrm>
          <a:prstGeom prst="rect">
            <a:avLst/>
          </a:prstGeom>
          <a:solidFill>
            <a:srgbClr val="1A7A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65192" y="1645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Uur-Calculator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965192" y="2194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 werk jij voor een gadget?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017520"/>
            <a:ext cx="41148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017520"/>
            <a:ext cx="54864" cy="160020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127248"/>
            <a:ext cx="438912" cy="320040"/>
          </a:xfrm>
          <a:prstGeom prst="rect">
            <a:avLst/>
          </a:prstGeom>
          <a:solidFill>
            <a:srgbClr val="1A7A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0352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🕸️  Dark Patterns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0352" y="4023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verleidingstrucs herkennen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00600" y="3017520"/>
            <a:ext cx="41148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00600" y="3017520"/>
            <a:ext cx="54864" cy="160020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3127248"/>
            <a:ext cx="438912" cy="320040"/>
          </a:xfrm>
          <a:prstGeom prst="rect">
            <a:avLst/>
          </a:prstGeom>
          <a:solidFill>
            <a:srgbClr val="1A7A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65192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Reflectievragen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965192" y="4023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Persoonlijk · Maatschappelijk · Toekomst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663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Totaal: 50 minuten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15200" y="4663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vlaconomie.nl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Leerdoelen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 het einde van deze les kan de leerling: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572768"/>
            <a:ext cx="8412480" cy="658368"/>
          </a:xfrm>
          <a:prstGeom prst="rect">
            <a:avLst/>
          </a:prstGeom>
          <a:solidFill>
            <a:srgbClr val="F4F8F4"/>
          </a:solidFill>
          <a:ln w="12700">
            <a:solidFill>
              <a:srgbClr val="E8F0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572768"/>
            <a:ext cx="54864" cy="65836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7276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8992" y="160934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Uitleggen hoe bedrijven psychologische trucs gebruiken om meer geld uit te geven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377440"/>
            <a:ext cx="54864" cy="65836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3774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⏱️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78992" y="241401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échte prijs van een aankoop berekenen in werkuren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3182112"/>
            <a:ext cx="8412480" cy="658368"/>
          </a:xfrm>
          <a:prstGeom prst="rect">
            <a:avLst/>
          </a:prstGeom>
          <a:solidFill>
            <a:srgbClr val="F4F8F4"/>
          </a:solidFill>
          <a:ln w="12700">
            <a:solidFill>
              <a:srgbClr val="E8F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3182112"/>
            <a:ext cx="54864" cy="65836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18211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🕸️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78992" y="321868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Minimaal 3 dark patterns herkennen en benoemen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3986784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986784"/>
            <a:ext cx="54864" cy="65836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98678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78992" y="40233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eigen standpunt onderbouwen over geld, reclame en verleidingstrucs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0" y="4828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vlaconomie.nl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2D4A6E">
              <a:alpha val="50000"/>
            </a:srgbClr>
          </a:solidFill>
          <a:ln w="12700">
            <a:solidFill>
              <a:srgbClr val="2D4A6E">
                <a:alpha val="5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0C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 Openingsvraag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2560320"/>
          </a:xfrm>
          <a:prstGeom prst="rect">
            <a:avLst/>
          </a:prstGeom>
          <a:solidFill>
            <a:srgbClr val="2D4A6E">
              <a:alpha val="70000"/>
            </a:srgbClr>
          </a:solidFill>
          <a:ln w="25400">
            <a:solidFill>
              <a:srgbClr val="F0C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5156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ziet een hoodie van €89,- op Instagram. Je klikt. Klarna zegt: betaal later. Je bestelt. Drie weken later komt de rekening.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 is dit precies gebeurd — en had jij het door?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Bespreek kort met je buurman/buurvrouw — 2 minuten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0" y="4828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vlaconomie.nl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4D2E"/>
          </a:solidFill>
          <a:ln w="12700">
            <a:solidFill>
              <a:srgbClr val="0F4D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Stap 1 — Drie dilemma's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84124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15568"/>
            <a:ext cx="64008" cy="1078992"/>
          </a:xfrm>
          <a:prstGeom prst="rect">
            <a:avLst/>
          </a:prstGeom>
          <a:solidFill>
            <a:srgbClr val="1A5A8A"/>
          </a:solidFill>
          <a:ln w="12700">
            <a:solidFill>
              <a:srgbClr val="1A5A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188720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🛍️  Dilemma 1 — De Klarna Trap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66928" y="1517904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Selin koopt via Klarna €260,- aan kleding in 3 termijnen. Ze denkt: "maar €60,- per maand..."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72200" y="1371600"/>
            <a:ext cx="2468880" cy="566928"/>
          </a:xfrm>
          <a:prstGeom prst="rect">
            <a:avLst/>
          </a:prstGeom>
          <a:solidFill>
            <a:srgbClr val="1A5A8A">
              <a:alpha val="15000"/>
            </a:srgbClr>
          </a:solidFill>
          <a:ln w="12700">
            <a:solidFill>
              <a:srgbClr val="1A5A8A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36208" y="138988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Voor wie is 'Koop nu, betaal later' slim?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65760" y="2350008"/>
            <a:ext cx="84124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350008"/>
            <a:ext cx="64008" cy="10789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23160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Dilemma 2 — De Influencer Deal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66928" y="2752344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@Jayden_Lifestyle (1,2M volgers) raadt een energydrankje aan. Hij verdient €0,50 per verkoop.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2606040"/>
            <a:ext cx="2468880" cy="566928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6208" y="262432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Wat is het verschil tussen advies en reclame?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3584448"/>
            <a:ext cx="84124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584448"/>
            <a:ext cx="64008" cy="1078992"/>
          </a:xfrm>
          <a:prstGeom prst="rect">
            <a:avLst/>
          </a:prstGeom>
          <a:solidFill>
            <a:srgbClr val="B30000"/>
          </a:solidFill>
          <a:ln w="12700">
            <a:solidFill>
              <a:srgbClr val="B3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657600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Dilemma 3 — In-Game Aankopen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" y="3986784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Daan wil een Fortnite skin van €19,99. De timer tikt: "Nog 23:47:12..."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3840480"/>
            <a:ext cx="2468880" cy="566928"/>
          </a:xfrm>
          <a:prstGeom prst="rect">
            <a:avLst/>
          </a:prstGeom>
          <a:solidFill>
            <a:srgbClr val="B30000">
              <a:alpha val="15000"/>
            </a:srgbClr>
          </a:solidFill>
          <a:ln w="12700">
            <a:solidFill>
              <a:srgbClr val="B30000">
                <a:alpha val="4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36208" y="385876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Verbieden voor minderjarigen — eens of oneens?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65760" y="4709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Leerlingen werken op vlaconomie.nl →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vlaconomie.nl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4D2E"/>
          </a:solidFill>
          <a:ln w="12700">
            <a:solidFill>
              <a:srgbClr val="0F4D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Stap 2 — De Uur-Calculator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78992"/>
            <a:ext cx="8412480" cy="53035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7899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  Minimumjeugdloon 15-jarige (1 jan 2026):  €4,41 bruto per uur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2880360" cy="347472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71907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Aankoop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719072"/>
            <a:ext cx="1325880" cy="347472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46704" y="17190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Prijs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719072"/>
            <a:ext cx="1325880" cy="347472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7190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Werkuren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719072"/>
            <a:ext cx="2514600" cy="347472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9904" y="171907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Zaterdagen (4u)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103120"/>
            <a:ext cx="2880360" cy="438912"/>
          </a:xfrm>
          <a:prstGeom prst="rect">
            <a:avLst/>
          </a:prstGeom>
          <a:solidFill>
            <a:srgbClr val="F4F8F4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103120"/>
            <a:ext cx="2779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AirPods Pro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91840" y="2103120"/>
            <a:ext cx="1325880" cy="438912"/>
          </a:xfrm>
          <a:prstGeom prst="rect">
            <a:avLst/>
          </a:prstGeom>
          <a:solidFill>
            <a:srgbClr val="F4F8F4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64992" y="2103120"/>
            <a:ext cx="12252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€ 249,-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103120"/>
            <a:ext cx="1325880" cy="438912"/>
          </a:xfrm>
          <a:prstGeom prst="rect">
            <a:avLst/>
          </a:prstGeom>
          <a:solidFill>
            <a:srgbClr val="F4F8F4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36592" y="2103120"/>
            <a:ext cx="1225296" cy="438912"/>
          </a:xfrm>
          <a:prstGeom prst="rect">
            <a:avLst/>
          </a:prstGeom>
          <a:solidFill>
            <a:srgbClr val="0F4D2E"/>
          </a:solidFill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uur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35040" y="2103120"/>
            <a:ext cx="2514600" cy="438912"/>
          </a:xfrm>
          <a:prstGeom prst="rect">
            <a:avLst/>
          </a:prstGeom>
          <a:solidFill>
            <a:srgbClr val="F4F8F4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08192" y="2103120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zaterdagen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2578608"/>
            <a:ext cx="28803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" y="2578608"/>
            <a:ext cx="2779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 Air Max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91840" y="2578608"/>
            <a:ext cx="13258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64992" y="2578608"/>
            <a:ext cx="12252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€ 169,-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63440" y="2578608"/>
            <a:ext cx="13258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36592" y="2578608"/>
            <a:ext cx="1225296" cy="438912"/>
          </a:xfrm>
          <a:prstGeom prst="rect">
            <a:avLst/>
          </a:prstGeom>
          <a:solidFill>
            <a:srgbClr val="0F4D2E"/>
          </a:solidFill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uur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035040" y="2578608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08192" y="2578608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zaterdagen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65760" y="3054096"/>
            <a:ext cx="2880360" cy="438912"/>
          </a:xfrm>
          <a:prstGeom prst="rect">
            <a:avLst/>
          </a:prstGeom>
          <a:solidFill>
            <a:srgbClr val="F4F8F4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3054096"/>
            <a:ext cx="2779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Fortnite skin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291840" y="3054096"/>
            <a:ext cx="1325880" cy="438912"/>
          </a:xfrm>
          <a:prstGeom prst="rect">
            <a:avLst/>
          </a:prstGeom>
          <a:solidFill>
            <a:srgbClr val="F4F8F4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64992" y="3054096"/>
            <a:ext cx="12252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€ 19,99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663440" y="3054096"/>
            <a:ext cx="1325880" cy="438912"/>
          </a:xfrm>
          <a:prstGeom prst="rect">
            <a:avLst/>
          </a:prstGeom>
          <a:solidFill>
            <a:srgbClr val="F4F8F4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36592" y="3054096"/>
            <a:ext cx="1225296" cy="438912"/>
          </a:xfrm>
          <a:prstGeom prst="rect">
            <a:avLst/>
          </a:prstGeom>
          <a:solidFill>
            <a:srgbClr val="0F4D2E"/>
          </a:solidFill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 uur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035040" y="3054096"/>
            <a:ext cx="2514600" cy="438912"/>
          </a:xfrm>
          <a:prstGeom prst="rect">
            <a:avLst/>
          </a:prstGeom>
          <a:solidFill>
            <a:srgbClr val="F4F8F4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08192" y="305409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zaterdag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65760" y="3529584"/>
            <a:ext cx="28803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8912" y="3529584"/>
            <a:ext cx="2779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Klarna jas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91840" y="3529584"/>
            <a:ext cx="13258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64992" y="3529584"/>
            <a:ext cx="12252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€ 120,-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663440" y="3529584"/>
            <a:ext cx="13258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36592" y="3529584"/>
            <a:ext cx="1225296" cy="438912"/>
          </a:xfrm>
          <a:prstGeom prst="rect">
            <a:avLst/>
          </a:prstGeom>
          <a:solidFill>
            <a:srgbClr val="0F4D2E"/>
          </a:solidFill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uur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035040" y="3529584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08192" y="352958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zaterdagen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005072"/>
            <a:ext cx="2880360" cy="438912"/>
          </a:xfrm>
          <a:prstGeom prst="rect">
            <a:avLst/>
          </a:prstGeom>
          <a:solidFill>
            <a:srgbClr val="F4F8F4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8912" y="4005072"/>
            <a:ext cx="2779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 Premium (jaar)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291840" y="4005072"/>
            <a:ext cx="1325880" cy="438912"/>
          </a:xfrm>
          <a:prstGeom prst="rect">
            <a:avLst/>
          </a:prstGeom>
          <a:solidFill>
            <a:srgbClr val="F4F8F4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64992" y="4005072"/>
            <a:ext cx="12252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€ 71,88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663440" y="4005072"/>
            <a:ext cx="1325880" cy="438912"/>
          </a:xfrm>
          <a:prstGeom prst="rect">
            <a:avLst/>
          </a:prstGeom>
          <a:solidFill>
            <a:srgbClr val="F4F8F4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36592" y="4005072"/>
            <a:ext cx="1225296" cy="438912"/>
          </a:xfrm>
          <a:prstGeom prst="rect">
            <a:avLst/>
          </a:prstGeom>
          <a:solidFill>
            <a:srgbClr val="0F4D2E"/>
          </a:solidFill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uur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035040" y="4005072"/>
            <a:ext cx="2514600" cy="438912"/>
          </a:xfrm>
          <a:prstGeom prst="rect">
            <a:avLst/>
          </a:prstGeom>
          <a:solidFill>
            <a:srgbClr val="F4F8F4"/>
          </a:solidFill>
          <a:ln w="12700">
            <a:solidFill>
              <a:srgbClr val="E0ED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08192" y="4005072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zaterdagen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365760" y="46451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Vraag aan de klas: kijk je anders naar een aankoop als je hem in uren uitdrukt?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B30000"/>
          </a:solidFill>
          <a:ln w="12700">
            <a:solidFill>
              <a:srgbClr val="B3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🕸️  Stap 3 — Dark Patterns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241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verleidingstrucs die webshops gebruiken — jij herkent ze nu!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481328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81328"/>
            <a:ext cx="54864" cy="1005840"/>
          </a:xfrm>
          <a:prstGeom prst="rect">
            <a:avLst/>
          </a:prstGeom>
          <a:solidFill>
            <a:srgbClr val="B30000"/>
          </a:solidFill>
          <a:ln w="12700">
            <a:solidFill>
              <a:srgbClr val="B3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" y="15727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#1 — De Nepdrukte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" y="192024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"Nog maar 2 op voorraad!" · "23 mensen bekijken dit nu"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596896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596896"/>
            <a:ext cx="54864" cy="1005840"/>
          </a:xfrm>
          <a:prstGeom prst="rect">
            <a:avLst/>
          </a:prstGeom>
          <a:solidFill>
            <a:srgbClr val="B30000"/>
          </a:solidFill>
          <a:ln w="12700">
            <a:solidFill>
              <a:srgbClr val="B3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" y="268833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 #2 — De Countdown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" y="303580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"Aanbieding verloopt over 02:14:33" (en begint daarna gewoon opnieuw)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712464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3712464"/>
            <a:ext cx="54864" cy="1005840"/>
          </a:xfrm>
          <a:prstGeom prst="rect">
            <a:avLst/>
          </a:prstGeom>
          <a:solidFill>
            <a:srgbClr val="B30000"/>
          </a:solidFill>
          <a:ln w="12700">
            <a:solidFill>
              <a:srgbClr val="B3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" y="380390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 #3 — De Verborgen Kosten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" y="415137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Prijs: €29,- → aan het einde: + €6,50 verzending + €2,- servicekosten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00600" y="1481328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00600" y="1481328"/>
            <a:ext cx="54864" cy="1005840"/>
          </a:xfrm>
          <a:prstGeom prst="rect">
            <a:avLst/>
          </a:prstGeom>
          <a:solidFill>
            <a:srgbClr val="B30000"/>
          </a:solidFill>
          <a:ln w="12700">
            <a:solidFill>
              <a:srgbClr val="B3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28616" y="15727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🪤  #4 — Het Roach Motel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28616" y="192024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Inschrijven = 1 klik. Uitschrijven = bellen, mailen, wachten...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00600" y="2596896"/>
            <a:ext cx="41148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00600" y="2596896"/>
            <a:ext cx="54864" cy="1115568"/>
          </a:xfrm>
          <a:prstGeom prst="rect">
            <a:avLst/>
          </a:prstGeom>
          <a:solidFill>
            <a:srgbClr val="B30000"/>
          </a:solidFill>
          <a:ln w="12700">
            <a:solidFill>
              <a:srgbClr val="B3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28616" y="268833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👆  #5 — De Misleidende Knop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28616" y="303580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Grote groene knop: "Ja!"  ·  Kleine grijze tekst: "Nee bedankt"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46451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Opdracht: open een webshop en vind zoveel mogelijk dark patterns in 5 minuten!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200400" cy="3200400"/>
          </a:xfrm>
          <a:prstGeom prst="ellipse">
            <a:avLst/>
          </a:prstGeom>
          <a:solidFill>
            <a:srgbClr val="2D4A6E">
              <a:alpha val="40000"/>
            </a:srgbClr>
          </a:solidFill>
          <a:ln w="12700">
            <a:solidFill>
              <a:srgbClr val="2D4A6E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Stap 4 — Reflectievragen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Sluit de les af met een scherp gesprek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8412480" cy="1005840"/>
          </a:xfrm>
          <a:prstGeom prst="rect">
            <a:avLst/>
          </a:prstGeom>
          <a:solidFill>
            <a:srgbClr val="2D4A6E">
              <a:alpha val="70000"/>
            </a:srgbClr>
          </a:solidFill>
          <a:ln w="12700">
            <a:solidFill>
              <a:srgbClr val="F0C040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384048" cy="384048"/>
          </a:xfrm>
          <a:prstGeom prst="rect">
            <a:avLst/>
          </a:prstGeom>
          <a:solidFill>
            <a:srgbClr val="F0C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0C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PERSOONLIJK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914400" y="1709928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Denk aan de laatste keer dat je iets kocht wat je eigenlijk niet nodig had. Welke truc heeft jou over de streep getrokken?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5760" y="2514600"/>
            <a:ext cx="8412480" cy="1005840"/>
          </a:xfrm>
          <a:prstGeom prst="rect">
            <a:avLst/>
          </a:prstGeom>
          <a:solidFill>
            <a:srgbClr val="2D4A6E">
              <a:alpha val="70000"/>
            </a:srgbClr>
          </a:solidFill>
          <a:ln w="12700">
            <a:solidFill>
              <a:srgbClr val="F0C040">
                <a:alpha val="4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606040"/>
            <a:ext cx="384048" cy="384048"/>
          </a:xfrm>
          <a:prstGeom prst="rect">
            <a:avLst/>
          </a:prstGeom>
          <a:solidFill>
            <a:srgbClr val="F0C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0C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MAATSCHAPPELIJK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98648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het eerlijk dat bedrijven psychologische trucjes mogen gebruiken op tieners? Waar ligt de grens?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5760" y="3703320"/>
            <a:ext cx="8412480" cy="1005840"/>
          </a:xfrm>
          <a:prstGeom prst="rect">
            <a:avLst/>
          </a:prstGeom>
          <a:solidFill>
            <a:srgbClr val="2D4A6E">
              <a:alpha val="70000"/>
            </a:srgbClr>
          </a:solidFill>
          <a:ln w="12700">
            <a:solidFill>
              <a:srgbClr val="F0C040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794760"/>
            <a:ext cx="384048" cy="384048"/>
          </a:xfrm>
          <a:prstGeom prst="rect">
            <a:avLst/>
          </a:prstGeom>
          <a:solidFill>
            <a:srgbClr val="F0C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0C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TOEKOMSTGERICHT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14400" y="4087368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jij €50,- per maand spaart in plaats van uitgeeft — wat betekent dat over 5 jaar? Bereken het!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315200" y="4828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vlaconomie.nl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4D2E"/>
          </a:solidFill>
          <a:ln w="12700">
            <a:solidFill>
              <a:srgbClr val="0F4D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🗓️  Lesplanning — 50 minuten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78992"/>
            <a:ext cx="841248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52144"/>
            <a:ext cx="1261872" cy="50292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52144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– 5 min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737360" y="1152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Intro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737360" y="1426464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Openingsvraag + klassengesprek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828800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901952"/>
            <a:ext cx="1261872" cy="502920"/>
          </a:xfrm>
          <a:prstGeom prst="rect">
            <a:avLst/>
          </a:prstGeom>
          <a:solidFill>
            <a:srgbClr val="1A5A8A"/>
          </a:solidFill>
          <a:ln w="12700">
            <a:solidFill>
              <a:srgbClr val="1A5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01952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– 20 min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737360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Dilemma's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37360" y="217627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Individueel lezen, slider invullen, bespreken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578608"/>
            <a:ext cx="841248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651760"/>
            <a:ext cx="1261872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65176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– 30 min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737360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Uur-Calculator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737360" y="292608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 aankoop invoeren + tabel bekijken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328416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401568"/>
            <a:ext cx="1261872" cy="502920"/>
          </a:xfrm>
          <a:prstGeom prst="rect">
            <a:avLst/>
          </a:prstGeom>
          <a:solidFill>
            <a:srgbClr val="B30000"/>
          </a:solidFill>
          <a:ln w="12700">
            <a:solidFill>
              <a:srgbClr val="B3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01568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– 40 min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🕸  Dark Patterns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737360" y="367588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Zoektocht op echte webshop (5 min) + nabespreking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4151376"/>
            <a:ext cx="1261872" cy="5029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151376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– 50 min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737360" y="4151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Reflectie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737360" y="442569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Schrijven + klassengesprek ter afsluiting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👉  Leerlingen werken op:  vlaconomie.nl/week-van-het-geld.html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4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286000"/>
            <a:ext cx="3657600" cy="3657600"/>
          </a:xfrm>
          <a:prstGeom prst="ellipse">
            <a:avLst/>
          </a:prstGeom>
          <a:solidFill>
            <a:srgbClr val="1A7A4A">
              <a:alpha val="40000"/>
            </a:srgbClr>
          </a:solidFill>
          <a:ln w="12700">
            <a:solidFill>
              <a:srgbClr val="1A7A4A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3200400" cy="3200400"/>
          </a:xfrm>
          <a:prstGeom prst="ellipse">
            <a:avLst/>
          </a:prstGeom>
          <a:solidFill>
            <a:srgbClr val="1A7A4A">
              <a:alpha val="35000"/>
            </a:srgbClr>
          </a:solidFill>
          <a:ln w="12700">
            <a:solidFill>
              <a:srgbClr val="1A7A4A">
                <a:alpha val="3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0" y="32004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💸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914400" y="169164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Klaar om te beginnen!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248716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vlaconomie.nl en klik op 'Week van het Geld'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103120" y="3063240"/>
            <a:ext cx="4937760" cy="566928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03120" y="30632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4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vlaconomie.nl/week-van-het-geld.html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886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Gratis · Geen account nodig · Werkt op elk apparaat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vlaconomie.nl  —  Economie oefenen voor VMBO, HAVO en VWO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van het Geld — Docentenpresentatie</dc:title>
  <dc:subject>PptxGenJS Presentation</dc:subject>
  <dc:creator>vlaconomie.nl</dc:creator>
  <cp:lastModifiedBy>vlaconomie.nl</cp:lastModifiedBy>
  <cp:revision>1</cp:revision>
  <dcterms:created xsi:type="dcterms:W3CDTF">2026-03-22T10:05:22Z</dcterms:created>
  <dcterms:modified xsi:type="dcterms:W3CDTF">2026-03-22T10:05:22Z</dcterms:modified>
</cp:coreProperties>
</file>